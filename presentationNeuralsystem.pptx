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7" r:id="rId2"/>
    <p:sldId id="257" r:id="rId3"/>
    <p:sldId id="258" r:id="rId4"/>
    <p:sldId id="259" r:id="rId5"/>
    <p:sldId id="260" r:id="rId6"/>
    <p:sldId id="261" r:id="rId7"/>
    <p:sldId id="262" r:id="rId8"/>
    <p:sldId id="263" r:id="rId9"/>
    <p:sldId id="264" r:id="rId10"/>
    <p:sldId id="265" r:id="rId11"/>
    <p:sldId id="268"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25" autoAdjust="0"/>
    <p:restoredTop sz="69162" autoAdjust="0"/>
  </p:normalViewPr>
  <p:slideViewPr>
    <p:cSldViewPr snapToGrid="0" snapToObjects="1">
      <p:cViewPr varScale="1">
        <p:scale>
          <a:sx n="52" d="100"/>
          <a:sy n="52" d="100"/>
        </p:scale>
        <p:origin x="193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2159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Tree>
    <p:extLst>
      <p:ext uri="{BB962C8B-B14F-4D97-AF65-F5344CB8AC3E}">
        <p14:creationId xmlns:p14="http://schemas.microsoft.com/office/powerpoint/2010/main" val="3857938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Welcome Everyone to the analysis of t</a:t>
            </a:r>
            <a:r>
              <a:rPr lang="en-US" dirty="0"/>
              <a:t>he Fashion MNIST classification Dataset, which offers 70,000 grayscale images across 10 clothing categories with a fixed resolution of </a:t>
            </a:r>
            <a:r>
              <a:rPr dirty="0"/>
              <a:t>28 by 28. The task is supervised image classification. The project was chosen to demonstrate core learning outcomes on preprocessing, network design, implementation in Python, and principled evaluation with accuracy and confusion analysis comparing alternative architectures </a:t>
            </a:r>
            <a:r>
              <a:rPr lang="en-IN" dirty="0"/>
              <a:t>rigorously</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Objectives are to build an artificial neural network baseline and a stronger convolutional network, to implement reproducible preprocessing and loaders, to configure optimisers and losses responsibly, to measure generalisation through validation and test accuracy, and to interpret confusion patterns among visually similar classes while proposing practical improvements that raise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The </a:t>
            </a:r>
            <a:r>
              <a:rPr dirty="0"/>
              <a:t>approach loads the dataset using a vision library, converts images to tensors, and applies per channel </a:t>
            </a:r>
            <a:r>
              <a:rPr dirty="0" err="1"/>
              <a:t>normalisation</a:t>
            </a:r>
            <a:r>
              <a:rPr dirty="0"/>
              <a:t> with mean 0.5 and standard deviation 0.5. We split the training set into training and validation partitions, use mini batches of 64, and train using Adam with cross entropy while tracking losses.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contains 60,000 training images and 10,000 test images across 10 classes. Pixel values are scaled to centred units that aid optimisation stability. The training set is partitioned into 50,000 for fitting and 10,000 for validation. Class labels are balanced, which supports accuracy while monitoring per class performance fairly.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artificial neural network uses a flatten with two dense layers of sizes 256 and 128 and outputs of size 10. The convolutional model uses two convolution layers with 32 and 64 filters, max pooling, and two dense layers. Both models employ ReLU activations, dropout for regularisation, and batch processing.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Training used Adam at learning rate 0.001 with cross entropy over mini batches of 64. The artificial neural network trained for 10 epochs and achieved test accuracy 87.77. The convolutional model trained for 5 epochs and achieved test accuracy 92.11. Validation losses showed stable convergence without divergence or early overfitting.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Confusion matrices indicate frequent mix ups among shirt, coat, pullover, and T shirt due to similar silhouettes and textures. The convolutional model reduces these errors through learned spatial features but confusions remain. Precision and recall are strong for trouser, sandal, sneaker, bag, and ankle boot due to outlines and patterns.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models satisfy learning outcomes by demonstrating preprocessing, implementation, and evaluation. The convolutional model is preferred due to higher accuracy and improved class separation. Executive recommendation is to adopt the convolutional model for deployment and to track per class metrics routinely. This informs targeted improvements and performance across similar categories.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kern="1200" dirty="0">
                <a:solidFill>
                  <a:schemeClr val="tx1"/>
                </a:solidFill>
                <a:effectLst/>
                <a:latin typeface="+mn-lt"/>
                <a:ea typeface="+mn-ea"/>
                <a:cs typeface="+mn-cs"/>
              </a:rPr>
              <a:t>Proposed improvements include moderate augmentation that preserves class identity, label smoothing, and a cosine learning rate schedule. A deeper convolutional baseline with batch normalisation and an additional pooling stage can further improve representation. The Documentation will help in finding the evidence  and also in reproducibility.</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D54F7E-825A-4BBA-815F-35CCA8B97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9144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aper doll dresses">
            <a:extLst>
              <a:ext uri="{FF2B5EF4-FFF2-40B4-BE49-F238E27FC236}">
                <a16:creationId xmlns:a16="http://schemas.microsoft.com/office/drawing/2014/main" id="{123BD99E-5F99-C5AF-8B1B-731E31A56077}"/>
              </a:ext>
            </a:extLst>
          </p:cNvPr>
          <p:cNvPicPr>
            <a:picLocks noChangeAspect="1"/>
          </p:cNvPicPr>
          <p:nvPr/>
        </p:nvPicPr>
        <p:blipFill>
          <a:blip r:embed="rId3"/>
          <a:srcRect t="1316"/>
          <a:stretch>
            <a:fillRect/>
          </a:stretch>
        </p:blipFill>
        <p:spPr>
          <a:xfrm>
            <a:off x="20" y="1"/>
            <a:ext cx="9143980" cy="6858000"/>
          </a:xfrm>
          <a:custGeom>
            <a:avLst/>
            <a:gdLst/>
            <a:ahLst/>
            <a:cxnLst/>
            <a:rect l="l" t="t" r="r" b="b"/>
            <a:pathLst>
              <a:path w="12191999" h="6842601">
                <a:moveTo>
                  <a:pt x="0" y="0"/>
                </a:moveTo>
                <a:lnTo>
                  <a:pt x="12191999" y="0"/>
                </a:lnTo>
                <a:lnTo>
                  <a:pt x="12191999" y="6842601"/>
                </a:lnTo>
                <a:lnTo>
                  <a:pt x="10316981" y="6842601"/>
                </a:lnTo>
                <a:cubicBezTo>
                  <a:pt x="10312796" y="6835189"/>
                  <a:pt x="10163183" y="6730124"/>
                  <a:pt x="10158998" y="6722712"/>
                </a:cubicBezTo>
                <a:cubicBezTo>
                  <a:pt x="10120278" y="6678190"/>
                  <a:pt x="10156462" y="6716223"/>
                  <a:pt x="10090349" y="6671420"/>
                </a:cubicBezTo>
                <a:cubicBezTo>
                  <a:pt x="10043032" y="6655694"/>
                  <a:pt x="9995855" y="6551879"/>
                  <a:pt x="9955425" y="6498018"/>
                </a:cubicBezTo>
                <a:cubicBezTo>
                  <a:pt x="9939618" y="6480021"/>
                  <a:pt x="9915110" y="6461677"/>
                  <a:pt x="9891265" y="6454528"/>
                </a:cubicBezTo>
                <a:cubicBezTo>
                  <a:pt x="9868239" y="6464957"/>
                  <a:pt x="9865423" y="6431640"/>
                  <a:pt x="9848227" y="6426063"/>
                </a:cubicBezTo>
                <a:cubicBezTo>
                  <a:pt x="9838059" y="6433162"/>
                  <a:pt x="9815047" y="6410348"/>
                  <a:pt x="9812354" y="6399604"/>
                </a:cubicBezTo>
                <a:cubicBezTo>
                  <a:pt x="9825285" y="6377997"/>
                  <a:pt x="9725923" y="6372757"/>
                  <a:pt x="9725915" y="6356381"/>
                </a:cubicBezTo>
                <a:cubicBezTo>
                  <a:pt x="9696279" y="6348066"/>
                  <a:pt x="9591199" y="6354143"/>
                  <a:pt x="9575033" y="6325258"/>
                </a:cubicBezTo>
                <a:cubicBezTo>
                  <a:pt x="9516434" y="6303128"/>
                  <a:pt x="9441613" y="6276805"/>
                  <a:pt x="9415626" y="6271777"/>
                </a:cubicBezTo>
                <a:cubicBezTo>
                  <a:pt x="9378293" y="6313495"/>
                  <a:pt x="9281935" y="6171365"/>
                  <a:pt x="9171493" y="6150430"/>
                </a:cubicBezTo>
                <a:cubicBezTo>
                  <a:pt x="9155426" y="6152396"/>
                  <a:pt x="9147439" y="6151015"/>
                  <a:pt x="9146018" y="6139864"/>
                </a:cubicBezTo>
                <a:cubicBezTo>
                  <a:pt x="9112029" y="6132441"/>
                  <a:pt x="9087339" y="6101138"/>
                  <a:pt x="9059635" y="6109957"/>
                </a:cubicBezTo>
                <a:cubicBezTo>
                  <a:pt x="9024424" y="6092144"/>
                  <a:pt x="9043048" y="6078417"/>
                  <a:pt x="9010911" y="6064789"/>
                </a:cubicBezTo>
                <a:lnTo>
                  <a:pt x="8866811" y="6028191"/>
                </a:lnTo>
                <a:cubicBezTo>
                  <a:pt x="8846465" y="6021172"/>
                  <a:pt x="8825221" y="6000527"/>
                  <a:pt x="8804584" y="5994237"/>
                </a:cubicBezTo>
                <a:lnTo>
                  <a:pt x="8783071" y="5990448"/>
                </a:lnTo>
                <a:lnTo>
                  <a:pt x="8770456" y="5978060"/>
                </a:lnTo>
                <a:cubicBezTo>
                  <a:pt x="8764772" y="5975259"/>
                  <a:pt x="8757695" y="5974720"/>
                  <a:pt x="8748297" y="5978070"/>
                </a:cubicBezTo>
                <a:cubicBezTo>
                  <a:pt x="8730344" y="5973495"/>
                  <a:pt x="8679808" y="5955894"/>
                  <a:pt x="8662742" y="5950603"/>
                </a:cubicBezTo>
                <a:lnTo>
                  <a:pt x="8645902" y="5946326"/>
                </a:lnTo>
                <a:lnTo>
                  <a:pt x="8638176" y="5938358"/>
                </a:lnTo>
                <a:cubicBezTo>
                  <a:pt x="8625897" y="5932642"/>
                  <a:pt x="8594811" y="5922073"/>
                  <a:pt x="8572224" y="5912032"/>
                </a:cubicBezTo>
                <a:cubicBezTo>
                  <a:pt x="8553809" y="5897782"/>
                  <a:pt x="8529845" y="5886100"/>
                  <a:pt x="8502655" y="5878114"/>
                </a:cubicBezTo>
                <a:cubicBezTo>
                  <a:pt x="8496990" y="5883034"/>
                  <a:pt x="8489611" y="5872566"/>
                  <a:pt x="8485159" y="5869819"/>
                </a:cubicBezTo>
                <a:cubicBezTo>
                  <a:pt x="8483457" y="5873482"/>
                  <a:pt x="8471232" y="5872664"/>
                  <a:pt x="8468539" y="5868711"/>
                </a:cubicBezTo>
                <a:cubicBezTo>
                  <a:pt x="8389167" y="5836352"/>
                  <a:pt x="8421742" y="5881497"/>
                  <a:pt x="8379810" y="5849376"/>
                </a:cubicBezTo>
                <a:cubicBezTo>
                  <a:pt x="8371729" y="5846373"/>
                  <a:pt x="8364483" y="5846766"/>
                  <a:pt x="8357758" y="5848601"/>
                </a:cubicBezTo>
                <a:lnTo>
                  <a:pt x="8315264" y="5836192"/>
                </a:lnTo>
                <a:cubicBezTo>
                  <a:pt x="8299077" y="5829531"/>
                  <a:pt x="8281671" y="5824011"/>
                  <a:pt x="8263455" y="5819793"/>
                </a:cubicBezTo>
                <a:cubicBezTo>
                  <a:pt x="8257386" y="5826849"/>
                  <a:pt x="8245582" y="5813448"/>
                  <a:pt x="8239287" y="5810141"/>
                </a:cubicBezTo>
                <a:cubicBezTo>
                  <a:pt x="8237965" y="5815186"/>
                  <a:pt x="8222226" y="5815108"/>
                  <a:pt x="8217888" y="5810039"/>
                </a:cubicBezTo>
                <a:cubicBezTo>
                  <a:pt x="8109447" y="5773303"/>
                  <a:pt x="8161302" y="5831037"/>
                  <a:pt x="8100547" y="5791517"/>
                </a:cubicBezTo>
                <a:cubicBezTo>
                  <a:pt x="8089574" y="5788167"/>
                  <a:pt x="8080448" y="5789295"/>
                  <a:pt x="8072316" y="5792309"/>
                </a:cubicBezTo>
                <a:lnTo>
                  <a:pt x="8056967" y="5800648"/>
                </a:lnTo>
                <a:lnTo>
                  <a:pt x="8047885" y="5795270"/>
                </a:lnTo>
                <a:cubicBezTo>
                  <a:pt x="8010204" y="5788738"/>
                  <a:pt x="7996426" y="5797608"/>
                  <a:pt x="7977128" y="5783189"/>
                </a:cubicBezTo>
                <a:cubicBezTo>
                  <a:pt x="7943466" y="5775577"/>
                  <a:pt x="7904823" y="5770953"/>
                  <a:pt x="7874392" y="5763715"/>
                </a:cubicBezTo>
                <a:cubicBezTo>
                  <a:pt x="7860337" y="5743777"/>
                  <a:pt x="7817541" y="5748989"/>
                  <a:pt x="7794543" y="5739759"/>
                </a:cubicBezTo>
                <a:cubicBezTo>
                  <a:pt x="7784688" y="5731467"/>
                  <a:pt x="7776709" y="5729004"/>
                  <a:pt x="7763762" y="5734031"/>
                </a:cubicBezTo>
                <a:cubicBezTo>
                  <a:pt x="7718781" y="5694154"/>
                  <a:pt x="7732231" y="5727368"/>
                  <a:pt x="7685889" y="5707234"/>
                </a:cubicBezTo>
                <a:cubicBezTo>
                  <a:pt x="7646521" y="5687607"/>
                  <a:pt x="7600389" y="5671470"/>
                  <a:pt x="7566744" y="5634586"/>
                </a:cubicBezTo>
                <a:cubicBezTo>
                  <a:pt x="7561306" y="5624813"/>
                  <a:pt x="7543589" y="5618525"/>
                  <a:pt x="7527170" y="5620542"/>
                </a:cubicBezTo>
                <a:cubicBezTo>
                  <a:pt x="7524343" y="5620889"/>
                  <a:pt x="7521664" y="5621475"/>
                  <a:pt x="7519214" y="5622280"/>
                </a:cubicBezTo>
                <a:cubicBezTo>
                  <a:pt x="7500062" y="5596964"/>
                  <a:pt x="7480476" y="5604337"/>
                  <a:pt x="7473157" y="5588143"/>
                </a:cubicBezTo>
                <a:cubicBezTo>
                  <a:pt x="7433415" y="5574859"/>
                  <a:pt x="7395118" y="5582388"/>
                  <a:pt x="7388000" y="5568063"/>
                </a:cubicBezTo>
                <a:cubicBezTo>
                  <a:pt x="7366403" y="5564920"/>
                  <a:pt x="7332262" y="5573848"/>
                  <a:pt x="7320876" y="5557698"/>
                </a:cubicBezTo>
                <a:cubicBezTo>
                  <a:pt x="7314891" y="5568111"/>
                  <a:pt x="7299319" y="5544964"/>
                  <a:pt x="7284480" y="5549820"/>
                </a:cubicBezTo>
                <a:cubicBezTo>
                  <a:pt x="7273570" y="5554430"/>
                  <a:pt x="7266301" y="5548483"/>
                  <a:pt x="7256619" y="5546379"/>
                </a:cubicBezTo>
                <a:cubicBezTo>
                  <a:pt x="7242503" y="5549088"/>
                  <a:pt x="7202543" y="5533379"/>
                  <a:pt x="7193112" y="5525289"/>
                </a:cubicBezTo>
                <a:cubicBezTo>
                  <a:pt x="7172259" y="5499151"/>
                  <a:pt x="7108617" y="5505485"/>
                  <a:pt x="7090943" y="5485177"/>
                </a:cubicBezTo>
                <a:cubicBezTo>
                  <a:pt x="7083637" y="5481419"/>
                  <a:pt x="7076140" y="5479148"/>
                  <a:pt x="7068566" y="5477809"/>
                </a:cubicBezTo>
                <a:lnTo>
                  <a:pt x="7023035" y="5476595"/>
                </a:lnTo>
                <a:lnTo>
                  <a:pt x="7001197" y="5476163"/>
                </a:lnTo>
                <a:cubicBezTo>
                  <a:pt x="7016126" y="5454256"/>
                  <a:pt x="6943549" y="5466815"/>
                  <a:pt x="6967472" y="5451057"/>
                </a:cubicBezTo>
                <a:cubicBezTo>
                  <a:pt x="6931240" y="5443544"/>
                  <a:pt x="6920843" y="5429649"/>
                  <a:pt x="6883334" y="5418880"/>
                </a:cubicBezTo>
                <a:lnTo>
                  <a:pt x="6742417" y="5386446"/>
                </a:lnTo>
                <a:cubicBezTo>
                  <a:pt x="6690532" y="5366095"/>
                  <a:pt x="6665174" y="5364632"/>
                  <a:pt x="6618315" y="5353085"/>
                </a:cubicBezTo>
                <a:cubicBezTo>
                  <a:pt x="6581698" y="5304210"/>
                  <a:pt x="6547395" y="5315779"/>
                  <a:pt x="6521050" y="5283194"/>
                </a:cubicBezTo>
                <a:cubicBezTo>
                  <a:pt x="6469114" y="5268862"/>
                  <a:pt x="6472597" y="5253957"/>
                  <a:pt x="6414460" y="5253832"/>
                </a:cubicBezTo>
                <a:lnTo>
                  <a:pt x="6362535" y="5220502"/>
                </a:lnTo>
                <a:cubicBezTo>
                  <a:pt x="6350866" y="5213881"/>
                  <a:pt x="6347641" y="5215777"/>
                  <a:pt x="6344443" y="5214103"/>
                </a:cubicBezTo>
                <a:lnTo>
                  <a:pt x="6343344" y="5210454"/>
                </a:lnTo>
                <a:lnTo>
                  <a:pt x="6333344" y="5205307"/>
                </a:lnTo>
                <a:lnTo>
                  <a:pt x="6315602" y="5193288"/>
                </a:lnTo>
                <a:lnTo>
                  <a:pt x="6310442" y="5192802"/>
                </a:lnTo>
                <a:lnTo>
                  <a:pt x="6280815" y="5177420"/>
                </a:lnTo>
                <a:lnTo>
                  <a:pt x="6279533" y="5178045"/>
                </a:lnTo>
                <a:cubicBezTo>
                  <a:pt x="6275980" y="5179097"/>
                  <a:pt x="6272084" y="5179212"/>
                  <a:pt x="6267362" y="5177370"/>
                </a:cubicBezTo>
                <a:cubicBezTo>
                  <a:pt x="6261796" y="5192470"/>
                  <a:pt x="6259530" y="5180933"/>
                  <a:pt x="6246095" y="5174167"/>
                </a:cubicBezTo>
                <a:lnTo>
                  <a:pt x="6155252" y="5161201"/>
                </a:lnTo>
                <a:lnTo>
                  <a:pt x="6148525" y="5158442"/>
                </a:lnTo>
                <a:lnTo>
                  <a:pt x="6148187" y="5158573"/>
                </a:lnTo>
                <a:cubicBezTo>
                  <a:pt x="6146292" y="5158370"/>
                  <a:pt x="6143916" y="5157611"/>
                  <a:pt x="6140686" y="5156032"/>
                </a:cubicBezTo>
                <a:lnTo>
                  <a:pt x="6136260" y="5153413"/>
                </a:lnTo>
                <a:lnTo>
                  <a:pt x="6123208" y="5148061"/>
                </a:lnTo>
                <a:lnTo>
                  <a:pt x="6117367" y="5147451"/>
                </a:lnTo>
                <a:lnTo>
                  <a:pt x="5957305" y="5146062"/>
                </a:lnTo>
                <a:cubicBezTo>
                  <a:pt x="5920540" y="5140405"/>
                  <a:pt x="5887096" y="5142015"/>
                  <a:pt x="5857259" y="5132052"/>
                </a:cubicBezTo>
                <a:cubicBezTo>
                  <a:pt x="5843335" y="5135303"/>
                  <a:pt x="5830921" y="5135493"/>
                  <a:pt x="5821375" y="5125606"/>
                </a:cubicBezTo>
                <a:cubicBezTo>
                  <a:pt x="5786501" y="5122615"/>
                  <a:pt x="5775399" y="5132648"/>
                  <a:pt x="5755916" y="5120171"/>
                </a:cubicBezTo>
                <a:cubicBezTo>
                  <a:pt x="5732132" y="5135438"/>
                  <a:pt x="5732735" y="5128211"/>
                  <a:pt x="5725007" y="5121437"/>
                </a:cubicBezTo>
                <a:lnTo>
                  <a:pt x="5723810" y="5120848"/>
                </a:lnTo>
                <a:lnTo>
                  <a:pt x="5720531" y="5123048"/>
                </a:lnTo>
                <a:lnTo>
                  <a:pt x="5714794" y="5123371"/>
                </a:lnTo>
                <a:lnTo>
                  <a:pt x="5700141" y="5120131"/>
                </a:lnTo>
                <a:lnTo>
                  <a:pt x="5694799" y="5118234"/>
                </a:lnTo>
                <a:cubicBezTo>
                  <a:pt x="5691058" y="5117179"/>
                  <a:pt x="5688491" y="5116804"/>
                  <a:pt x="5686627" y="5116903"/>
                </a:cubicBezTo>
                <a:lnTo>
                  <a:pt x="5686371" y="5117086"/>
                </a:lnTo>
                <a:lnTo>
                  <a:pt x="5678818" y="5115416"/>
                </a:lnTo>
                <a:cubicBezTo>
                  <a:pt x="5666199" y="5112102"/>
                  <a:pt x="5654035" y="5108410"/>
                  <a:pt x="5642547" y="5104511"/>
                </a:cubicBezTo>
                <a:cubicBezTo>
                  <a:pt x="5629444" y="5114945"/>
                  <a:pt x="5588783" y="5093343"/>
                  <a:pt x="5587979" y="5116963"/>
                </a:cubicBezTo>
                <a:cubicBezTo>
                  <a:pt x="5572317" y="5112380"/>
                  <a:pt x="5564904" y="5101292"/>
                  <a:pt x="5566635" y="5117158"/>
                </a:cubicBezTo>
                <a:cubicBezTo>
                  <a:pt x="5561375" y="5116079"/>
                  <a:pt x="5557787" y="5116811"/>
                  <a:pt x="5554952" y="5118417"/>
                </a:cubicBezTo>
                <a:lnTo>
                  <a:pt x="5554039" y="5119241"/>
                </a:lnTo>
                <a:lnTo>
                  <a:pt x="5514253" y="5109018"/>
                </a:lnTo>
                <a:lnTo>
                  <a:pt x="5492156" y="5099904"/>
                </a:lnTo>
                <a:lnTo>
                  <a:pt x="5480446" y="5096385"/>
                </a:lnTo>
                <a:lnTo>
                  <a:pt x="5477744" y="5092939"/>
                </a:lnTo>
                <a:cubicBezTo>
                  <a:pt x="5474490" y="5090581"/>
                  <a:pt x="5469391" y="5088951"/>
                  <a:pt x="5460150" y="5088988"/>
                </a:cubicBezTo>
                <a:lnTo>
                  <a:pt x="5457901" y="5089459"/>
                </a:lnTo>
                <a:lnTo>
                  <a:pt x="5444243" y="5082761"/>
                </a:lnTo>
                <a:cubicBezTo>
                  <a:pt x="5439993" y="5080007"/>
                  <a:pt x="5436418" y="5076805"/>
                  <a:pt x="5433825" y="5072992"/>
                </a:cubicBezTo>
                <a:cubicBezTo>
                  <a:pt x="5379442" y="5082090"/>
                  <a:pt x="5336110" y="5058382"/>
                  <a:pt x="5280996" y="5052402"/>
                </a:cubicBezTo>
                <a:cubicBezTo>
                  <a:pt x="5250806" y="5043777"/>
                  <a:pt x="5168599" y="5048109"/>
                  <a:pt x="5161582" y="5019668"/>
                </a:cubicBezTo>
                <a:cubicBezTo>
                  <a:pt x="5121870" y="5011383"/>
                  <a:pt x="5095637" y="5009222"/>
                  <a:pt x="5042717" y="5002692"/>
                </a:cubicBezTo>
                <a:cubicBezTo>
                  <a:pt x="4991136" y="4972487"/>
                  <a:pt x="4902282" y="4979360"/>
                  <a:pt x="4840514" y="4959306"/>
                </a:cubicBezTo>
                <a:cubicBezTo>
                  <a:pt x="4799904" y="4976415"/>
                  <a:pt x="4824087" y="4958371"/>
                  <a:pt x="4786778" y="4956661"/>
                </a:cubicBezTo>
                <a:cubicBezTo>
                  <a:pt x="4801901" y="4937231"/>
                  <a:pt x="4739845" y="4961208"/>
                  <a:pt x="4743741" y="4937104"/>
                </a:cubicBezTo>
                <a:cubicBezTo>
                  <a:pt x="4736829" y="4937557"/>
                  <a:pt x="4730010" y="4938753"/>
                  <a:pt x="4723136" y="4940138"/>
                </a:cubicBezTo>
                <a:lnTo>
                  <a:pt x="4719535" y="4940850"/>
                </a:lnTo>
                <a:lnTo>
                  <a:pt x="4706143" y="4939586"/>
                </a:lnTo>
                <a:lnTo>
                  <a:pt x="4701098" y="4944372"/>
                </a:lnTo>
                <a:lnTo>
                  <a:pt x="4680034" y="4946157"/>
                </a:lnTo>
                <a:cubicBezTo>
                  <a:pt x="4672339" y="4946029"/>
                  <a:pt x="4664292" y="4944964"/>
                  <a:pt x="4655740" y="4942396"/>
                </a:cubicBezTo>
                <a:cubicBezTo>
                  <a:pt x="4636359" y="4929384"/>
                  <a:pt x="4599700" y="4935346"/>
                  <a:pt x="4569298" y="4929596"/>
                </a:cubicBezTo>
                <a:lnTo>
                  <a:pt x="4555977" y="4924356"/>
                </a:lnTo>
                <a:lnTo>
                  <a:pt x="4508949" y="4921648"/>
                </a:lnTo>
                <a:cubicBezTo>
                  <a:pt x="4495668" y="4920437"/>
                  <a:pt x="4482007" y="4918694"/>
                  <a:pt x="4467838" y="4915993"/>
                </a:cubicBezTo>
                <a:lnTo>
                  <a:pt x="4441948" y="4909300"/>
                </a:lnTo>
                <a:lnTo>
                  <a:pt x="4394719" y="4901820"/>
                </a:lnTo>
                <a:lnTo>
                  <a:pt x="4356810" y="4905146"/>
                </a:lnTo>
                <a:lnTo>
                  <a:pt x="4222144" y="4909117"/>
                </a:lnTo>
                <a:cubicBezTo>
                  <a:pt x="4202488" y="4913903"/>
                  <a:pt x="4184742" y="4933491"/>
                  <a:pt x="4160481" y="4923474"/>
                </a:cubicBezTo>
                <a:cubicBezTo>
                  <a:pt x="4165854" y="4934564"/>
                  <a:pt x="4131661" y="4919946"/>
                  <a:pt x="4124879" y="4929303"/>
                </a:cubicBezTo>
                <a:cubicBezTo>
                  <a:pt x="4120895" y="4937086"/>
                  <a:pt x="4109593" y="4934464"/>
                  <a:pt x="4100114" y="4936007"/>
                </a:cubicBezTo>
                <a:cubicBezTo>
                  <a:pt x="4091835" y="4943256"/>
                  <a:pt x="4045978" y="4943549"/>
                  <a:pt x="4030957" y="4939826"/>
                </a:cubicBezTo>
                <a:cubicBezTo>
                  <a:pt x="3989825" y="4924453"/>
                  <a:pt x="3946860" y="4952050"/>
                  <a:pt x="3913764" y="4940618"/>
                </a:cubicBezTo>
                <a:cubicBezTo>
                  <a:pt x="3904534" y="4939906"/>
                  <a:pt x="3896577" y="4940543"/>
                  <a:pt x="3889457" y="4942017"/>
                </a:cubicBezTo>
                <a:lnTo>
                  <a:pt x="3871115" y="4948115"/>
                </a:lnTo>
                <a:lnTo>
                  <a:pt x="3869086" y="4953796"/>
                </a:lnTo>
                <a:lnTo>
                  <a:pt x="3856124" y="4955351"/>
                </a:lnTo>
                <a:lnTo>
                  <a:pt x="3835967" y="4964002"/>
                </a:lnTo>
                <a:cubicBezTo>
                  <a:pt x="3826465" y="4939857"/>
                  <a:pt x="3782586" y="4975947"/>
                  <a:pt x="3785910" y="4953998"/>
                </a:cubicBezTo>
                <a:cubicBezTo>
                  <a:pt x="3750785" y="4960085"/>
                  <a:pt x="3699033" y="4941571"/>
                  <a:pt x="3671085" y="4966563"/>
                </a:cubicBezTo>
                <a:cubicBezTo>
                  <a:pt x="3621255" y="4971431"/>
                  <a:pt x="3562637" y="4982991"/>
                  <a:pt x="3486928" y="4983204"/>
                </a:cubicBezTo>
                <a:cubicBezTo>
                  <a:pt x="3446030" y="4983424"/>
                  <a:pt x="3343460" y="4965124"/>
                  <a:pt x="3280956" y="4963864"/>
                </a:cubicBezTo>
                <a:cubicBezTo>
                  <a:pt x="3227193" y="4969510"/>
                  <a:pt x="3256481" y="4962609"/>
                  <a:pt x="3211563" y="4982704"/>
                </a:cubicBezTo>
                <a:cubicBezTo>
                  <a:pt x="3207119" y="4979549"/>
                  <a:pt x="3170070" y="4977192"/>
                  <a:pt x="3164681" y="4975408"/>
                </a:cubicBezTo>
                <a:lnTo>
                  <a:pt x="3127171" y="4968229"/>
                </a:lnTo>
                <a:lnTo>
                  <a:pt x="3096889" y="4965619"/>
                </a:lnTo>
                <a:cubicBezTo>
                  <a:pt x="3088441" y="4967572"/>
                  <a:pt x="3082883" y="4967054"/>
                  <a:pt x="3078620" y="4965444"/>
                </a:cubicBezTo>
                <a:lnTo>
                  <a:pt x="3074275" y="4962670"/>
                </a:lnTo>
                <a:lnTo>
                  <a:pt x="3036436" y="4957455"/>
                </a:lnTo>
                <a:lnTo>
                  <a:pt x="3031995" y="4958829"/>
                </a:lnTo>
                <a:lnTo>
                  <a:pt x="2994028" y="4956800"/>
                </a:lnTo>
                <a:cubicBezTo>
                  <a:pt x="2992299" y="4958944"/>
                  <a:pt x="2989407" y="4960397"/>
                  <a:pt x="2984001" y="4960444"/>
                </a:cubicBezTo>
                <a:cubicBezTo>
                  <a:pt x="2994191" y="4975446"/>
                  <a:pt x="2981386" y="4966249"/>
                  <a:pt x="2964542" y="4965062"/>
                </a:cubicBezTo>
                <a:cubicBezTo>
                  <a:pt x="2976613" y="4988096"/>
                  <a:pt x="2927627" y="4975618"/>
                  <a:pt x="2921274" y="4988440"/>
                </a:cubicBezTo>
                <a:cubicBezTo>
                  <a:pt x="2908629" y="4987050"/>
                  <a:pt x="2895476" y="4985998"/>
                  <a:pt x="2882111" y="4985411"/>
                </a:cubicBezTo>
                <a:lnTo>
                  <a:pt x="2874282" y="4985361"/>
                </a:lnTo>
                <a:cubicBezTo>
                  <a:pt x="2874237" y="4985437"/>
                  <a:pt x="2874193" y="4985514"/>
                  <a:pt x="2874147" y="4985591"/>
                </a:cubicBezTo>
                <a:cubicBezTo>
                  <a:pt x="2872492" y="4986074"/>
                  <a:pt x="2869935" y="4986243"/>
                  <a:pt x="2865932" y="4985999"/>
                </a:cubicBezTo>
                <a:lnTo>
                  <a:pt x="2860008" y="4985269"/>
                </a:lnTo>
                <a:lnTo>
                  <a:pt x="2844819" y="4985172"/>
                </a:lnTo>
                <a:lnTo>
                  <a:pt x="2839735" y="4986676"/>
                </a:lnTo>
                <a:lnTo>
                  <a:pt x="2837922" y="4989488"/>
                </a:lnTo>
                <a:lnTo>
                  <a:pt x="2836507" y="4989165"/>
                </a:lnTo>
                <a:cubicBezTo>
                  <a:pt x="2825749" y="4984209"/>
                  <a:pt x="2822382" y="4977089"/>
                  <a:pt x="2808859" y="4996804"/>
                </a:cubicBezTo>
                <a:cubicBezTo>
                  <a:pt x="2784233" y="4988767"/>
                  <a:pt x="2779499" y="5000786"/>
                  <a:pt x="2745907" y="5005126"/>
                </a:cubicBezTo>
                <a:cubicBezTo>
                  <a:pt x="2731796" y="4997536"/>
                  <a:pt x="2720518" y="5000295"/>
                  <a:pt x="2709519" y="5006333"/>
                </a:cubicBezTo>
                <a:cubicBezTo>
                  <a:pt x="2676766" y="5002878"/>
                  <a:pt x="2646981" y="5011377"/>
                  <a:pt x="2610212" y="5013529"/>
                </a:cubicBezTo>
                <a:cubicBezTo>
                  <a:pt x="2570359" y="5003730"/>
                  <a:pt x="2550109" y="5021491"/>
                  <a:pt x="2510814" y="5023713"/>
                </a:cubicBezTo>
                <a:cubicBezTo>
                  <a:pt x="2476639" y="5006722"/>
                  <a:pt x="2482834" y="5038639"/>
                  <a:pt x="2462736" y="5045398"/>
                </a:cubicBezTo>
                <a:lnTo>
                  <a:pt x="2457050" y="5046022"/>
                </a:lnTo>
                <a:lnTo>
                  <a:pt x="2442184" y="5043549"/>
                </a:lnTo>
                <a:lnTo>
                  <a:pt x="2436703" y="5041929"/>
                </a:lnTo>
                <a:cubicBezTo>
                  <a:pt x="2432888" y="5041072"/>
                  <a:pt x="2430299" y="5040830"/>
                  <a:pt x="2428451" y="5041027"/>
                </a:cubicBezTo>
                <a:lnTo>
                  <a:pt x="2420551" y="5039949"/>
                </a:lnTo>
                <a:cubicBezTo>
                  <a:pt x="2407700" y="5037296"/>
                  <a:pt x="2395274" y="5034239"/>
                  <a:pt x="2383501" y="5030941"/>
                </a:cubicBezTo>
                <a:cubicBezTo>
                  <a:pt x="2362992" y="5032521"/>
                  <a:pt x="2317884" y="5047662"/>
                  <a:pt x="2297493" y="5049431"/>
                </a:cubicBezTo>
                <a:lnTo>
                  <a:pt x="2261156" y="5041558"/>
                </a:lnTo>
                <a:lnTo>
                  <a:pt x="2200581" y="5024964"/>
                </a:lnTo>
                <a:lnTo>
                  <a:pt x="2198380" y="5025550"/>
                </a:lnTo>
                <a:lnTo>
                  <a:pt x="2116066" y="5019568"/>
                </a:lnTo>
                <a:cubicBezTo>
                  <a:pt x="2111600" y="5017036"/>
                  <a:pt x="2059664" y="5006071"/>
                  <a:pt x="2056754" y="5002394"/>
                </a:cubicBezTo>
                <a:cubicBezTo>
                  <a:pt x="2003393" y="5014336"/>
                  <a:pt x="1998298" y="5008800"/>
                  <a:pt x="1942916" y="5005703"/>
                </a:cubicBezTo>
                <a:cubicBezTo>
                  <a:pt x="1882138" y="4994708"/>
                  <a:pt x="1836966" y="4976630"/>
                  <a:pt x="1796717" y="4970423"/>
                </a:cubicBezTo>
                <a:cubicBezTo>
                  <a:pt x="1724075" y="4959337"/>
                  <a:pt x="1636218" y="4936339"/>
                  <a:pt x="1583222" y="4931235"/>
                </a:cubicBezTo>
                <a:cubicBezTo>
                  <a:pt x="1544265" y="4950469"/>
                  <a:pt x="1556109" y="4927628"/>
                  <a:pt x="1518821" y="4927872"/>
                </a:cubicBezTo>
                <a:cubicBezTo>
                  <a:pt x="1497291" y="4925112"/>
                  <a:pt x="1483221" y="4916728"/>
                  <a:pt x="1471837" y="4914678"/>
                </a:cubicBezTo>
                <a:lnTo>
                  <a:pt x="1450515" y="4915578"/>
                </a:lnTo>
                <a:lnTo>
                  <a:pt x="1437078" y="4915016"/>
                </a:lnTo>
                <a:lnTo>
                  <a:pt x="1432462" y="4920065"/>
                </a:lnTo>
                <a:lnTo>
                  <a:pt x="1411645" y="4922952"/>
                </a:lnTo>
                <a:cubicBezTo>
                  <a:pt x="1384856" y="4920079"/>
                  <a:pt x="1306656" y="4907389"/>
                  <a:pt x="1271729" y="4902828"/>
                </a:cubicBezTo>
                <a:cubicBezTo>
                  <a:pt x="1258697" y="4896954"/>
                  <a:pt x="1213546" y="4890036"/>
                  <a:pt x="1202076" y="4895589"/>
                </a:cubicBezTo>
                <a:cubicBezTo>
                  <a:pt x="1192059" y="4895561"/>
                  <a:pt x="1182171" y="4891311"/>
                  <a:pt x="1174670" y="4898040"/>
                </a:cubicBezTo>
                <a:cubicBezTo>
                  <a:pt x="1163701" y="4905820"/>
                  <a:pt x="1136874" y="4886643"/>
                  <a:pt x="1137035" y="4897965"/>
                </a:cubicBezTo>
                <a:cubicBezTo>
                  <a:pt x="1117838" y="4884693"/>
                  <a:pt x="1091386" y="4900421"/>
                  <a:pt x="1069882" y="4901859"/>
                </a:cubicBezTo>
                <a:cubicBezTo>
                  <a:pt x="1055589" y="4889467"/>
                  <a:pt x="1024570" y="4904705"/>
                  <a:pt x="980935" y="4900090"/>
                </a:cubicBezTo>
                <a:cubicBezTo>
                  <a:pt x="947614" y="4895538"/>
                  <a:pt x="913224" y="4886405"/>
                  <a:pt x="869960" y="4874547"/>
                </a:cubicBezTo>
                <a:cubicBezTo>
                  <a:pt x="819114" y="4845820"/>
                  <a:pt x="768074" y="4839770"/>
                  <a:pt x="721345" y="4828937"/>
                </a:cubicBezTo>
                <a:cubicBezTo>
                  <a:pt x="667944" y="4819060"/>
                  <a:pt x="698286" y="4848426"/>
                  <a:pt x="635428" y="4819153"/>
                </a:cubicBezTo>
                <a:cubicBezTo>
                  <a:pt x="626286" y="4826707"/>
                  <a:pt x="617638" y="4825980"/>
                  <a:pt x="604106" y="4819994"/>
                </a:cubicBezTo>
                <a:cubicBezTo>
                  <a:pt x="583276" y="4822237"/>
                  <a:pt x="539859" y="4835097"/>
                  <a:pt x="510451" y="4832608"/>
                </a:cubicBezTo>
                <a:cubicBezTo>
                  <a:pt x="489781" y="4829929"/>
                  <a:pt x="443867" y="4807857"/>
                  <a:pt x="427656" y="4805062"/>
                </a:cubicBezTo>
                <a:cubicBezTo>
                  <a:pt x="424088" y="4806479"/>
                  <a:pt x="419580" y="4809736"/>
                  <a:pt x="413184" y="4815837"/>
                </a:cubicBezTo>
                <a:cubicBezTo>
                  <a:pt x="387673" y="4805882"/>
                  <a:pt x="379855" y="4817328"/>
                  <a:pt x="341772" y="4818825"/>
                </a:cubicBezTo>
                <a:cubicBezTo>
                  <a:pt x="327795" y="4810179"/>
                  <a:pt x="314729" y="4811964"/>
                  <a:pt x="301266" y="4817000"/>
                </a:cubicBezTo>
                <a:cubicBezTo>
                  <a:pt x="265781" y="4810886"/>
                  <a:pt x="231017" y="4816794"/>
                  <a:pt x="189886" y="4815871"/>
                </a:cubicBezTo>
                <a:cubicBezTo>
                  <a:pt x="147910" y="4802917"/>
                  <a:pt x="121702" y="4818738"/>
                  <a:pt x="77762" y="4817675"/>
                </a:cubicBezTo>
                <a:cubicBezTo>
                  <a:pt x="38733" y="4795315"/>
                  <a:pt x="44308" y="4840244"/>
                  <a:pt x="8164" y="4835320"/>
                </a:cubicBezTo>
                <a:lnTo>
                  <a:pt x="0" y="4832771"/>
                </a:lnTo>
                <a:close/>
              </a:path>
            </a:pathLst>
          </a:custGeom>
        </p:spPr>
      </p:pic>
      <p:sp>
        <p:nvSpPr>
          <p:cNvPr id="2" name="Title 1">
            <a:extLst>
              <a:ext uri="{FF2B5EF4-FFF2-40B4-BE49-F238E27FC236}">
                <a16:creationId xmlns:a16="http://schemas.microsoft.com/office/drawing/2014/main" id="{B1A6300E-AB6F-568C-7614-C4D123102330}"/>
              </a:ext>
            </a:extLst>
          </p:cNvPr>
          <p:cNvSpPr>
            <a:spLocks noGrp="1"/>
          </p:cNvSpPr>
          <p:nvPr>
            <p:ph type="ctrTitle"/>
          </p:nvPr>
        </p:nvSpPr>
        <p:spPr>
          <a:xfrm>
            <a:off x="449863" y="5234320"/>
            <a:ext cx="5198489" cy="752217"/>
          </a:xfrm>
        </p:spPr>
        <p:txBody>
          <a:bodyPr anchor="b">
            <a:normAutofit/>
          </a:bodyPr>
          <a:lstStyle/>
          <a:p>
            <a:pPr algn="l">
              <a:lnSpc>
                <a:spcPct val="90000"/>
              </a:lnSpc>
            </a:pPr>
            <a:r>
              <a:rPr lang="en-IN" sz="2600">
                <a:ln w="22225">
                  <a:solidFill>
                    <a:schemeClr val="tx1"/>
                  </a:solidFill>
                  <a:miter lim="800000"/>
                </a:ln>
                <a:solidFill>
                  <a:schemeClr val="tx1">
                    <a:lumMod val="85000"/>
                    <a:lumOff val="15000"/>
                  </a:schemeClr>
                </a:solidFill>
              </a:rPr>
              <a:t>Fashion MNIST Image  Classification</a:t>
            </a:r>
            <a:endParaRPr lang="en-GB" sz="2600">
              <a:ln w="22225">
                <a:solidFill>
                  <a:schemeClr val="tx1"/>
                </a:solidFill>
                <a:miter lim="800000"/>
              </a:ln>
              <a:solidFill>
                <a:schemeClr val="tx1">
                  <a:lumMod val="85000"/>
                  <a:lumOff val="15000"/>
                </a:schemeClr>
              </a:solidFill>
            </a:endParaRPr>
          </a:p>
        </p:txBody>
      </p:sp>
      <p:sp>
        <p:nvSpPr>
          <p:cNvPr id="3" name="Subtitle 2">
            <a:extLst>
              <a:ext uri="{FF2B5EF4-FFF2-40B4-BE49-F238E27FC236}">
                <a16:creationId xmlns:a16="http://schemas.microsoft.com/office/drawing/2014/main" id="{8384BD16-D160-514E-9964-A8B635A9A0C5}"/>
              </a:ext>
            </a:extLst>
          </p:cNvPr>
          <p:cNvSpPr>
            <a:spLocks noGrp="1"/>
          </p:cNvSpPr>
          <p:nvPr>
            <p:ph type="subTitle" idx="1"/>
          </p:nvPr>
        </p:nvSpPr>
        <p:spPr>
          <a:xfrm>
            <a:off x="449864" y="6059086"/>
            <a:ext cx="5198489" cy="349725"/>
          </a:xfrm>
        </p:spPr>
        <p:txBody>
          <a:bodyPr anchor="t">
            <a:normAutofit/>
          </a:bodyPr>
          <a:lstStyle/>
          <a:p>
            <a:pPr algn="l"/>
            <a:r>
              <a:rPr lang="en-US" sz="1400">
                <a:solidFill>
                  <a:schemeClr val="tx1">
                    <a:lumMod val="85000"/>
                    <a:lumOff val="15000"/>
                  </a:schemeClr>
                </a:solidFill>
              </a:rPr>
              <a:t>Using Artificial Neural Networks and Convolutional Neural Networks.</a:t>
            </a:r>
          </a:p>
          <a:p>
            <a:pPr algn="l"/>
            <a:endParaRPr lang="en-GB" sz="1400">
              <a:solidFill>
                <a:schemeClr val="tx1">
                  <a:lumMod val="85000"/>
                  <a:lumOff val="15000"/>
                </a:schemeClr>
              </a:solidFill>
            </a:endParaRPr>
          </a:p>
        </p:txBody>
      </p:sp>
    </p:spTree>
    <p:extLst>
      <p:ext uri="{BB962C8B-B14F-4D97-AF65-F5344CB8AC3E}">
        <p14:creationId xmlns:p14="http://schemas.microsoft.com/office/powerpoint/2010/main" val="147407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1033"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EA85A855-2321-0DA6-3519-FC19D59BD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223" r="17611"/>
          <a:stretch>
            <a:fillRect/>
          </a:stretch>
        </p:blipFill>
        <p:spPr bwMode="auto">
          <a:xfrm>
            <a:off x="20" y="-2"/>
            <a:ext cx="4057627" cy="6858002"/>
          </a:xfrm>
          <a:prstGeom prst="rect">
            <a:avLst/>
          </a:prstGeom>
          <a:noFill/>
          <a:extLst>
            <a:ext uri="{909E8E84-426E-40DD-AFC4-6F175D3DCCD1}">
              <a14:hiddenFill xmlns:a14="http://schemas.microsoft.com/office/drawing/2010/main">
                <a:solidFill>
                  <a:srgbClr val="FFFFFF"/>
                </a:solidFill>
              </a14:hiddenFill>
            </a:ext>
          </a:extLst>
        </p:spPr>
      </p:pic>
      <p:sp useBgFill="1">
        <p:nvSpPr>
          <p:cNvPr id="1035" name="Rectangle 1034">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86487" y="405685"/>
            <a:ext cx="4098726" cy="1559301"/>
          </a:xfrm>
        </p:spPr>
        <p:txBody>
          <a:bodyPr>
            <a:normAutofit/>
          </a:bodyPr>
          <a:lstStyle/>
          <a:p>
            <a:r>
              <a:rPr lang="en-IN" sz="3500" dirty="0"/>
              <a:t>Introduction</a:t>
            </a:r>
          </a:p>
        </p:txBody>
      </p:sp>
      <p:sp>
        <p:nvSpPr>
          <p:cNvPr id="3" name="Content Placeholder 2"/>
          <p:cNvSpPr>
            <a:spLocks noGrp="1"/>
          </p:cNvSpPr>
          <p:nvPr>
            <p:ph idx="1"/>
          </p:nvPr>
        </p:nvSpPr>
        <p:spPr>
          <a:xfrm>
            <a:off x="4423267" y="1964986"/>
            <a:ext cx="4261946" cy="4275092"/>
          </a:xfrm>
        </p:spPr>
        <p:txBody>
          <a:bodyPr anchor="ctr">
            <a:normAutofit/>
          </a:bodyPr>
          <a:lstStyle/>
          <a:p>
            <a:pPr algn="just"/>
            <a:r>
              <a:rPr lang="en-US" sz="1700" dirty="0"/>
              <a:t>Fashion MNIST contains 70,000 grayscale images across 10 clothing categories at 28 by 28 resolution.</a:t>
            </a:r>
          </a:p>
          <a:p>
            <a:pPr algn="just"/>
            <a:r>
              <a:rPr lang="en-US" sz="1700" dirty="0"/>
              <a:t>The task is supervised classification that maps pixels to semantic labels.</a:t>
            </a:r>
          </a:p>
          <a:p>
            <a:pPr algn="just"/>
            <a:r>
              <a:rPr lang="en-US" sz="1700" dirty="0"/>
              <a:t>The project demonstrates full workflow from data ingestion to evaluation.</a:t>
            </a:r>
          </a:p>
          <a:p>
            <a:pPr algn="just"/>
            <a:r>
              <a:rPr lang="en-US" sz="1700" dirty="0"/>
              <a:t>The comparison tests representational advantages of convolutional features.</a:t>
            </a:r>
          </a:p>
          <a:p>
            <a:pPr algn="just"/>
            <a:r>
              <a:rPr lang="en-US" sz="1700" dirty="0"/>
              <a:t>Outcomes inform reliable choices for instructional deployment.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dirty="0"/>
              <a:t>Objectives and Goals</a:t>
            </a:r>
          </a:p>
        </p:txBody>
      </p:sp>
      <p:sp>
        <p:nvSpPr>
          <p:cNvPr id="3" name="Content Placeholder 2"/>
          <p:cNvSpPr>
            <a:spLocks noGrp="1"/>
          </p:cNvSpPr>
          <p:nvPr>
            <p:ph idx="1"/>
          </p:nvPr>
        </p:nvSpPr>
        <p:spPr>
          <a:xfrm>
            <a:off x="571351" y="2743200"/>
            <a:ext cx="3485179" cy="3613149"/>
          </a:xfrm>
        </p:spPr>
        <p:txBody>
          <a:bodyPr anchor="ctr">
            <a:normAutofit/>
          </a:bodyPr>
          <a:lstStyle/>
          <a:p>
            <a:pPr>
              <a:lnSpc>
                <a:spcPct val="90000"/>
              </a:lnSpc>
            </a:pPr>
            <a:r>
              <a:rPr lang="en-US" sz="1600" dirty="0"/>
              <a:t>Build a strong artificial neural network baseline for image classification.</a:t>
            </a:r>
          </a:p>
          <a:p>
            <a:pPr>
              <a:lnSpc>
                <a:spcPct val="90000"/>
              </a:lnSpc>
            </a:pPr>
            <a:r>
              <a:rPr lang="en-US" sz="1600" dirty="0"/>
              <a:t>Develop a convolutional network that exploits spatial locality and weight sharing.</a:t>
            </a:r>
          </a:p>
          <a:p>
            <a:pPr>
              <a:lnSpc>
                <a:spcPct val="90000"/>
              </a:lnSpc>
            </a:pPr>
            <a:r>
              <a:rPr lang="en-US" sz="1600" dirty="0"/>
              <a:t>Establish a reproducible preprocessing and data loading pipeline.</a:t>
            </a:r>
          </a:p>
          <a:p>
            <a:pPr>
              <a:lnSpc>
                <a:spcPct val="90000"/>
              </a:lnSpc>
            </a:pPr>
            <a:r>
              <a:rPr lang="en-US" sz="1600" dirty="0"/>
              <a:t>Quantify performance using validation accuracy, test accuracy, and confusion matrices.</a:t>
            </a:r>
          </a:p>
          <a:p>
            <a:pPr>
              <a:lnSpc>
                <a:spcPct val="90000"/>
              </a:lnSpc>
            </a:pPr>
            <a:r>
              <a:rPr lang="en-US" sz="1600" dirty="0"/>
              <a:t>Derive improvement actions from error structure among visually similar classes.</a:t>
            </a:r>
          </a:p>
        </p:txBody>
      </p:sp>
      <p:pic>
        <p:nvPicPr>
          <p:cNvPr id="5" name="Picture 4" descr="Pins pinned on a white surface and connecting a black thread">
            <a:extLst>
              <a:ext uri="{FF2B5EF4-FFF2-40B4-BE49-F238E27FC236}">
                <a16:creationId xmlns:a16="http://schemas.microsoft.com/office/drawing/2014/main" id="{562AD5B6-20EA-E823-8F70-4221C9A3FFBD}"/>
              </a:ext>
            </a:extLst>
          </p:cNvPr>
          <p:cNvPicPr>
            <a:picLocks noChangeAspect="1"/>
          </p:cNvPicPr>
          <p:nvPr/>
        </p:nvPicPr>
        <p:blipFill>
          <a:blip r:embed="rId3"/>
          <a:srcRect l="12766" r="42683" b="-2"/>
          <a:stretch>
            <a:fillRect/>
          </a:stretch>
        </p:blipFill>
        <p:spPr>
          <a:xfrm>
            <a:off x="4566880" y="0"/>
            <a:ext cx="4577118"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52645" y="439133"/>
            <a:ext cx="3718260" cy="1747545"/>
          </a:xfrm>
        </p:spPr>
        <p:txBody>
          <a:bodyPr anchor="ctr">
            <a:normAutofit/>
          </a:bodyPr>
          <a:lstStyle/>
          <a:p>
            <a:pPr>
              <a:lnSpc>
                <a:spcPct val="90000"/>
              </a:lnSpc>
            </a:pPr>
            <a:r>
              <a:rPr lang="en-US" sz="3500" dirty="0"/>
              <a:t>Methodology and Approach</a:t>
            </a:r>
          </a:p>
        </p:txBody>
      </p:sp>
      <p:sp>
        <p:nvSpPr>
          <p:cNvPr id="3" name="Content Placeholder 2"/>
          <p:cNvSpPr>
            <a:spLocks noGrp="1"/>
          </p:cNvSpPr>
          <p:nvPr>
            <p:ph idx="1"/>
          </p:nvPr>
        </p:nvSpPr>
        <p:spPr>
          <a:xfrm>
            <a:off x="571351" y="2444620"/>
            <a:ext cx="4523163" cy="3911729"/>
          </a:xfrm>
        </p:spPr>
        <p:txBody>
          <a:bodyPr anchor="ctr">
            <a:normAutofit/>
          </a:bodyPr>
          <a:lstStyle/>
          <a:p>
            <a:pPr algn="just">
              <a:lnSpc>
                <a:spcPct val="90000"/>
              </a:lnSpc>
            </a:pPr>
            <a:r>
              <a:rPr lang="en-US" sz="1700" dirty="0"/>
              <a:t>Load images using a vision library with robust dataset utilities.</a:t>
            </a:r>
          </a:p>
          <a:p>
            <a:pPr algn="just">
              <a:lnSpc>
                <a:spcPct val="90000"/>
              </a:lnSpc>
            </a:pPr>
            <a:r>
              <a:rPr lang="en-US" sz="1700" dirty="0"/>
              <a:t>Convert to tensors and apply per channel </a:t>
            </a:r>
            <a:r>
              <a:rPr lang="en-US" sz="1700" dirty="0" err="1"/>
              <a:t>normalisation</a:t>
            </a:r>
            <a:r>
              <a:rPr lang="en-US" sz="1700" dirty="0"/>
              <a:t> with mean 0.5 and standard deviation 0.5.</a:t>
            </a:r>
          </a:p>
          <a:p>
            <a:pPr algn="just">
              <a:lnSpc>
                <a:spcPct val="90000"/>
              </a:lnSpc>
            </a:pPr>
            <a:r>
              <a:rPr lang="en-US" sz="1700" dirty="0"/>
              <a:t>Split the training set into training and validation partitions for fair selection.</a:t>
            </a:r>
          </a:p>
          <a:p>
            <a:pPr algn="just">
              <a:lnSpc>
                <a:spcPct val="90000"/>
              </a:lnSpc>
            </a:pPr>
            <a:r>
              <a:rPr lang="en-US" sz="1700" dirty="0"/>
              <a:t>Use mini batches of 64 to </a:t>
            </a:r>
            <a:r>
              <a:rPr lang="en-US" sz="1700" dirty="0" err="1"/>
              <a:t>stabilise</a:t>
            </a:r>
            <a:r>
              <a:rPr lang="en-US" sz="1700" dirty="0"/>
              <a:t> gradients and memory usage.</a:t>
            </a:r>
          </a:p>
          <a:p>
            <a:pPr algn="just">
              <a:lnSpc>
                <a:spcPct val="90000"/>
              </a:lnSpc>
            </a:pPr>
            <a:r>
              <a:rPr lang="en-US" sz="1700" dirty="0" err="1"/>
              <a:t>Optimise</a:t>
            </a:r>
            <a:r>
              <a:rPr lang="en-US" sz="1700" dirty="0"/>
              <a:t> with Adam using cross entropy while tracking losses (Xin et al., 2023).</a:t>
            </a:r>
          </a:p>
        </p:txBody>
      </p:sp>
      <p:pic>
        <p:nvPicPr>
          <p:cNvPr id="5" name="Picture 4" descr="Colorful math learning objects">
            <a:extLst>
              <a:ext uri="{FF2B5EF4-FFF2-40B4-BE49-F238E27FC236}">
                <a16:creationId xmlns:a16="http://schemas.microsoft.com/office/drawing/2014/main" id="{604D276D-EEC4-48AF-88E7-ACC3F0FE9F32}"/>
              </a:ext>
            </a:extLst>
          </p:cNvPr>
          <p:cNvPicPr>
            <a:picLocks noChangeAspect="1"/>
          </p:cNvPicPr>
          <p:nvPr/>
        </p:nvPicPr>
        <p:blipFill>
          <a:blip r:embed="rId3"/>
          <a:srcRect l="25152" r="30298" b="-2"/>
          <a:stretch>
            <a:fillRect/>
          </a:stretch>
        </p:blipFill>
        <p:spPr>
          <a:xfrm>
            <a:off x="5663938" y="1"/>
            <a:ext cx="3485179"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636194"/>
            <a:ext cx="5170932" cy="3554294"/>
          </a:xfrm>
        </p:spPr>
        <p:txBody>
          <a:bodyPr>
            <a:normAutofit/>
          </a:bodyPr>
          <a:lstStyle/>
          <a:p>
            <a:pPr algn="just"/>
            <a:r>
              <a:rPr lang="en-US" sz="1700" dirty="0"/>
              <a:t>The dataset provides 60,000 training images and 10,000 test images.</a:t>
            </a:r>
          </a:p>
          <a:p>
            <a:pPr algn="just"/>
            <a:r>
              <a:rPr lang="en-US" sz="1700" dirty="0"/>
              <a:t>There are 10 balanced classes with consistent label definitions.</a:t>
            </a:r>
          </a:p>
          <a:p>
            <a:pPr algn="just"/>
            <a:r>
              <a:rPr lang="en-US" sz="1700" dirty="0"/>
              <a:t>Pixel values are </a:t>
            </a:r>
            <a:r>
              <a:rPr lang="en-US" sz="1700" dirty="0" err="1"/>
              <a:t>centred</a:t>
            </a:r>
            <a:r>
              <a:rPr lang="en-US" sz="1700" dirty="0"/>
              <a:t> to support stable </a:t>
            </a:r>
            <a:r>
              <a:rPr lang="en-US" sz="1700" dirty="0" err="1"/>
              <a:t>optimisation</a:t>
            </a:r>
            <a:r>
              <a:rPr lang="en-US" sz="1700" dirty="0"/>
              <a:t> dynamics.</a:t>
            </a:r>
          </a:p>
          <a:p>
            <a:pPr algn="just"/>
            <a:r>
              <a:rPr lang="en-US" sz="1700" dirty="0"/>
              <a:t>The split uses 50,000 for fitting and 10,000 for validation.</a:t>
            </a:r>
          </a:p>
          <a:p>
            <a:pPr algn="just"/>
            <a:r>
              <a:rPr lang="en-US" sz="1700" dirty="0"/>
              <a:t>Class mapping enables class wise reporting for meaningful insights (Sumera et al., 2022).</a:t>
            </a:r>
          </a:p>
        </p:txBody>
      </p:sp>
      <p:pic>
        <p:nvPicPr>
          <p:cNvPr id="5" name="Picture 4">
            <a:extLst>
              <a:ext uri="{FF2B5EF4-FFF2-40B4-BE49-F238E27FC236}">
                <a16:creationId xmlns:a16="http://schemas.microsoft.com/office/drawing/2014/main" id="{534DF46A-8535-B453-EDEC-A7F5801922AD}"/>
              </a:ext>
            </a:extLst>
          </p:cNvPr>
          <p:cNvPicPr>
            <a:picLocks noChangeAspect="1"/>
          </p:cNvPicPr>
          <p:nvPr/>
        </p:nvPicPr>
        <p:blipFill>
          <a:blip r:embed="rId3"/>
          <a:stretch>
            <a:fillRect/>
          </a:stretch>
        </p:blipFill>
        <p:spPr>
          <a:xfrm>
            <a:off x="5884164" y="3025365"/>
            <a:ext cx="3010662" cy="591292"/>
          </a:xfrm>
          <a:prstGeom prst="rect">
            <a:avLst/>
          </a:prstGeom>
        </p:spPr>
      </p:pic>
      <p:pic>
        <p:nvPicPr>
          <p:cNvPr id="7" name="Picture 6">
            <a:extLst>
              <a:ext uri="{FF2B5EF4-FFF2-40B4-BE49-F238E27FC236}">
                <a16:creationId xmlns:a16="http://schemas.microsoft.com/office/drawing/2014/main" id="{A85B53E4-9756-FD22-F3A5-73626599F011}"/>
              </a:ext>
            </a:extLst>
          </p:cNvPr>
          <p:cNvPicPr>
            <a:picLocks noChangeAspect="1"/>
          </p:cNvPicPr>
          <p:nvPr/>
        </p:nvPicPr>
        <p:blipFill>
          <a:blip r:embed="rId4"/>
          <a:stretch>
            <a:fillRect/>
          </a:stretch>
        </p:blipFill>
        <p:spPr>
          <a:xfrm>
            <a:off x="5897880" y="4947315"/>
            <a:ext cx="2996946" cy="440027"/>
          </a:xfrm>
          <a:prstGeom prst="rect">
            <a:avLst/>
          </a:prstGeom>
        </p:spPr>
      </p:pic>
      <p:sp useBgFill="1">
        <p:nvSpPr>
          <p:cNvPr id="8" name="Rectangle 7">
            <a:extLst>
              <a:ext uri="{FF2B5EF4-FFF2-40B4-BE49-F238E27FC236}">
                <a16:creationId xmlns:a16="http://schemas.microsoft.com/office/drawing/2014/main" id="{7D6F8322-C416-82A8-FE2F-E25B8DD00FD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F515AF9-6F49-F6E3-665B-549710963594}"/>
              </a:ext>
            </a:extLst>
          </p:cNvPr>
          <p:cNvSpPr txBox="1">
            <a:spLocks/>
          </p:cNvSpPr>
          <p:nvPr/>
        </p:nvSpPr>
        <p:spPr>
          <a:xfrm>
            <a:off x="571352" y="350195"/>
            <a:ext cx="3718260" cy="174754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3600" dirty="0"/>
              <a:t>Data and Inputs</a:t>
            </a:r>
            <a:endParaRPr lang="en-US" sz="3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7900844" cy="1624520"/>
          </a:xfrm>
        </p:spPr>
        <p:txBody>
          <a:bodyPr anchor="ctr">
            <a:normAutofit/>
          </a:bodyPr>
          <a:lstStyle/>
          <a:p>
            <a:pPr>
              <a:lnSpc>
                <a:spcPct val="90000"/>
              </a:lnSpc>
            </a:pPr>
            <a:r>
              <a:rPr lang="en-IN" sz="3500" dirty="0"/>
              <a:t>Implementation Details</a:t>
            </a:r>
          </a:p>
        </p:txBody>
      </p:sp>
      <p:sp>
        <p:nvSpPr>
          <p:cNvPr id="3" name="Content Placeholder 2"/>
          <p:cNvSpPr>
            <a:spLocks noGrp="1"/>
          </p:cNvSpPr>
          <p:nvPr>
            <p:ph idx="1"/>
          </p:nvPr>
        </p:nvSpPr>
        <p:spPr>
          <a:xfrm>
            <a:off x="429208" y="1828800"/>
            <a:ext cx="4553339" cy="4527549"/>
          </a:xfrm>
        </p:spPr>
        <p:txBody>
          <a:bodyPr anchor="ctr">
            <a:normAutofit/>
          </a:bodyPr>
          <a:lstStyle/>
          <a:p>
            <a:pPr algn="just">
              <a:lnSpc>
                <a:spcPct val="90000"/>
              </a:lnSpc>
            </a:pPr>
            <a:r>
              <a:rPr lang="en-US" sz="1600" dirty="0"/>
              <a:t>The artificial neural network uses flatten, dense 256, dense 128, and an output of 10.</a:t>
            </a:r>
          </a:p>
          <a:p>
            <a:pPr algn="just">
              <a:lnSpc>
                <a:spcPct val="90000"/>
              </a:lnSpc>
            </a:pPr>
            <a:r>
              <a:rPr lang="en-US" sz="1600" dirty="0"/>
              <a:t>The convolutional model uses convolution 32, convolution 64, max pooling, dense 128, and output 10.</a:t>
            </a:r>
          </a:p>
          <a:p>
            <a:pPr algn="just">
              <a:lnSpc>
                <a:spcPct val="90000"/>
              </a:lnSpc>
            </a:pPr>
            <a:r>
              <a:rPr lang="en-US" sz="1600" dirty="0" err="1"/>
              <a:t>ReLU</a:t>
            </a:r>
            <a:r>
              <a:rPr lang="en-US" sz="1600" dirty="0"/>
              <a:t> activations are applied throughout for effective nonlinearity.</a:t>
            </a:r>
          </a:p>
          <a:p>
            <a:pPr algn="just">
              <a:lnSpc>
                <a:spcPct val="90000"/>
              </a:lnSpc>
            </a:pPr>
            <a:r>
              <a:rPr lang="en-US" sz="1600" dirty="0"/>
              <a:t>Dropout at a rate of 0.25 </a:t>
            </a:r>
            <a:r>
              <a:rPr lang="en-US" sz="1600" dirty="0" err="1"/>
              <a:t>regularises</a:t>
            </a:r>
            <a:r>
              <a:rPr lang="en-US" sz="1600" dirty="0"/>
              <a:t> the convolutional model.</a:t>
            </a:r>
          </a:p>
          <a:p>
            <a:pPr algn="just">
              <a:lnSpc>
                <a:spcPct val="90000"/>
              </a:lnSpc>
            </a:pPr>
            <a:r>
              <a:rPr lang="en-US" sz="1600" dirty="0"/>
              <a:t>Batch processing ensures efficient throughput across the pipeline (</a:t>
            </a:r>
            <a:r>
              <a:rPr lang="en-US" sz="1600" dirty="0" err="1"/>
              <a:t>Mukhamediev</a:t>
            </a:r>
            <a:r>
              <a:rPr lang="en-US" sz="1600" dirty="0"/>
              <a:t>, 2024).</a:t>
            </a:r>
          </a:p>
        </p:txBody>
      </p:sp>
      <p:pic>
        <p:nvPicPr>
          <p:cNvPr id="6" name="Picture 5">
            <a:extLst>
              <a:ext uri="{FF2B5EF4-FFF2-40B4-BE49-F238E27FC236}">
                <a16:creationId xmlns:a16="http://schemas.microsoft.com/office/drawing/2014/main" id="{09CF97E7-28A8-5109-7FD7-0BFA6E3BE867}"/>
              </a:ext>
            </a:extLst>
          </p:cNvPr>
          <p:cNvPicPr>
            <a:picLocks noChangeAspect="1"/>
          </p:cNvPicPr>
          <p:nvPr/>
        </p:nvPicPr>
        <p:blipFill>
          <a:blip r:embed="rId3"/>
          <a:stretch>
            <a:fillRect/>
          </a:stretch>
        </p:blipFill>
        <p:spPr>
          <a:xfrm>
            <a:off x="5713998" y="2673151"/>
            <a:ext cx="3000794" cy="28388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796988"/>
            <a:ext cx="4749282" cy="3329175"/>
          </a:xfrm>
        </p:spPr>
        <p:txBody>
          <a:bodyPr>
            <a:normAutofit fontScale="62500" lnSpcReduction="20000"/>
          </a:bodyPr>
          <a:lstStyle/>
          <a:p>
            <a:pPr algn="just"/>
            <a:r>
              <a:rPr dirty="0"/>
              <a:t>Training uses Adam at learning rate 0.001 and cross entropy.</a:t>
            </a:r>
          </a:p>
          <a:p>
            <a:pPr algn="just"/>
            <a:r>
              <a:rPr dirty="0"/>
              <a:t>Artificial neural network trains for 10 epochs and achieves test accuracy 87.77.</a:t>
            </a:r>
          </a:p>
          <a:p>
            <a:pPr algn="just"/>
            <a:r>
              <a:rPr dirty="0"/>
              <a:t>Convolutional model trains for 5 epochs and achieves test accuracy 92.11.</a:t>
            </a:r>
          </a:p>
          <a:p>
            <a:pPr algn="just"/>
            <a:r>
              <a:rPr dirty="0"/>
              <a:t>Validation profiles show smooth convergence without instability.</a:t>
            </a:r>
          </a:p>
          <a:p>
            <a:pPr algn="just"/>
            <a:r>
              <a:rPr dirty="0"/>
              <a:t>Metrics indicate stronger </a:t>
            </a:r>
            <a:r>
              <a:rPr dirty="0" err="1"/>
              <a:t>generalisation</a:t>
            </a:r>
            <a:r>
              <a:rPr dirty="0"/>
              <a:t> from learned spatial features</a:t>
            </a:r>
            <a:r>
              <a:rPr lang="en-IN" dirty="0"/>
              <a:t> (</a:t>
            </a:r>
            <a:r>
              <a:rPr lang="en-IN" dirty="0" err="1"/>
              <a:t>Nocentini</a:t>
            </a:r>
            <a:r>
              <a:rPr lang="en-IN" dirty="0"/>
              <a:t> et al., 2022)</a:t>
            </a:r>
            <a:r>
              <a:rPr dirty="0"/>
              <a:t>.</a:t>
            </a:r>
          </a:p>
        </p:txBody>
      </p:sp>
      <p:sp useBgFill="1">
        <p:nvSpPr>
          <p:cNvPr id="6" name="Rectangle 5">
            <a:extLst>
              <a:ext uri="{FF2B5EF4-FFF2-40B4-BE49-F238E27FC236}">
                <a16:creationId xmlns:a16="http://schemas.microsoft.com/office/drawing/2014/main" id="{4D809E30-84B7-E221-BBEB-A7923AEEC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200" y="995082"/>
            <a:ext cx="3657601" cy="968188"/>
          </a:xfrm>
        </p:spPr>
        <p:txBody>
          <a:bodyPr>
            <a:normAutofit fontScale="90000"/>
          </a:bodyPr>
          <a:lstStyle/>
          <a:p>
            <a:r>
              <a:rPr dirty="0"/>
              <a:t>Results and Findings</a:t>
            </a:r>
          </a:p>
        </p:txBody>
      </p:sp>
      <p:pic>
        <p:nvPicPr>
          <p:cNvPr id="9" name="Picture 8">
            <a:extLst>
              <a:ext uri="{FF2B5EF4-FFF2-40B4-BE49-F238E27FC236}">
                <a16:creationId xmlns:a16="http://schemas.microsoft.com/office/drawing/2014/main" id="{B2B210FE-96C0-02B7-4379-59A5C721B86F}"/>
              </a:ext>
            </a:extLst>
          </p:cNvPr>
          <p:cNvPicPr>
            <a:picLocks noChangeAspect="1"/>
          </p:cNvPicPr>
          <p:nvPr/>
        </p:nvPicPr>
        <p:blipFill>
          <a:blip r:embed="rId3"/>
          <a:stretch>
            <a:fillRect/>
          </a:stretch>
        </p:blipFill>
        <p:spPr>
          <a:xfrm>
            <a:off x="5319288" y="206941"/>
            <a:ext cx="3651603" cy="3092144"/>
          </a:xfrm>
          <a:prstGeom prst="rect">
            <a:avLst/>
          </a:prstGeom>
        </p:spPr>
      </p:pic>
      <p:pic>
        <p:nvPicPr>
          <p:cNvPr id="5" name="Picture 4">
            <a:extLst>
              <a:ext uri="{FF2B5EF4-FFF2-40B4-BE49-F238E27FC236}">
                <a16:creationId xmlns:a16="http://schemas.microsoft.com/office/drawing/2014/main" id="{0059D9F2-2C0B-BA9F-5160-DE50B2B08D64}"/>
              </a:ext>
            </a:extLst>
          </p:cNvPr>
          <p:cNvPicPr>
            <a:picLocks noChangeAspect="1"/>
          </p:cNvPicPr>
          <p:nvPr/>
        </p:nvPicPr>
        <p:blipFill>
          <a:blip r:embed="rId4"/>
          <a:stretch>
            <a:fillRect/>
          </a:stretch>
        </p:blipFill>
        <p:spPr>
          <a:xfrm>
            <a:off x="5319288" y="3429000"/>
            <a:ext cx="3651603" cy="33465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7E6D2D34-4BB4-460B-8844-027610FB2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0578" y="802955"/>
            <a:ext cx="3733482" cy="1455996"/>
          </a:xfrm>
        </p:spPr>
        <p:txBody>
          <a:bodyPr anchor="b">
            <a:normAutofit/>
          </a:bodyPr>
          <a:lstStyle/>
          <a:p>
            <a:r>
              <a:rPr lang="en-IN" sz="3100">
                <a:solidFill>
                  <a:schemeClr val="tx2"/>
                </a:solidFill>
              </a:rPr>
              <a:t>Discussion and Interpretation</a:t>
            </a:r>
          </a:p>
        </p:txBody>
      </p:sp>
      <p:pic>
        <p:nvPicPr>
          <p:cNvPr id="1026" name="Picture 2">
            <a:extLst>
              <a:ext uri="{FF2B5EF4-FFF2-40B4-BE49-F238E27FC236}">
                <a16:creationId xmlns:a16="http://schemas.microsoft.com/office/drawing/2014/main" id="{1CCA7612-F2A4-84D2-AE14-BCF320D2D3B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3503" y="887821"/>
            <a:ext cx="2819329" cy="2481009"/>
          </a:xfrm>
          <a:prstGeom prst="rect">
            <a:avLst/>
          </a:prstGeom>
          <a:noFill/>
          <a:extLst>
            <a:ext uri="{909E8E84-426E-40DD-AFC4-6F175D3DCCD1}">
              <a14:hiddenFill xmlns:a14="http://schemas.microsoft.com/office/drawing/2010/main">
                <a:solidFill>
                  <a:srgbClr val="FFFFFF"/>
                </a:solidFill>
              </a14:hiddenFill>
            </a:ext>
          </a:extLst>
        </p:spPr>
      </p:pic>
      <p:grpSp>
        <p:nvGrpSpPr>
          <p:cNvPr id="3081" name="Group 3080">
            <a:extLst>
              <a:ext uri="{FF2B5EF4-FFF2-40B4-BE49-F238E27FC236}">
                <a16:creationId xmlns:a16="http://schemas.microsoft.com/office/drawing/2014/main" id="{C5314570-9B06-4D37-8CBD-EDD67C2FA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7257560" y="-4155"/>
            <a:ext cx="1886211" cy="2174333"/>
            <a:chOff x="-305" y="-4155"/>
            <a:chExt cx="2514948" cy="2174333"/>
          </a:xfrm>
        </p:grpSpPr>
        <p:sp>
          <p:nvSpPr>
            <p:cNvPr id="3082" name="Freeform: Shape 3081">
              <a:extLst>
                <a:ext uri="{FF2B5EF4-FFF2-40B4-BE49-F238E27FC236}">
                  <a16:creationId xmlns:a16="http://schemas.microsoft.com/office/drawing/2014/main" id="{A204F55B-358D-4FB5-9979-6724C64154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Freeform: Shape 3082">
              <a:extLst>
                <a:ext uri="{FF2B5EF4-FFF2-40B4-BE49-F238E27FC236}">
                  <a16:creationId xmlns:a16="http://schemas.microsoft.com/office/drawing/2014/main" id="{C4F77C62-9DDF-48D3-A074-159A3276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Freeform: Shape 3083">
              <a:extLst>
                <a:ext uri="{FF2B5EF4-FFF2-40B4-BE49-F238E27FC236}">
                  <a16:creationId xmlns:a16="http://schemas.microsoft.com/office/drawing/2014/main" id="{DEB07022-F30B-49CA-B1DD-A826815C4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085" name="Freeform: Shape 3084">
              <a:extLst>
                <a:ext uri="{FF2B5EF4-FFF2-40B4-BE49-F238E27FC236}">
                  <a16:creationId xmlns:a16="http://schemas.microsoft.com/office/drawing/2014/main" id="{F7C47E16-167C-48BF-9FC9-08787D348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074" name="Picture 2">
            <a:extLst>
              <a:ext uri="{FF2B5EF4-FFF2-40B4-BE49-F238E27FC236}">
                <a16:creationId xmlns:a16="http://schemas.microsoft.com/office/drawing/2014/main" id="{6BAE72F1-A1A5-ECB5-5EB4-F6D127EA523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3504" y="3462198"/>
            <a:ext cx="2819328" cy="248100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567930" y="2421682"/>
            <a:ext cx="3733184" cy="3639289"/>
          </a:xfrm>
        </p:spPr>
        <p:txBody>
          <a:bodyPr anchor="ctr">
            <a:normAutofit/>
          </a:bodyPr>
          <a:lstStyle/>
          <a:p>
            <a:pPr>
              <a:lnSpc>
                <a:spcPct val="90000"/>
              </a:lnSpc>
            </a:pPr>
            <a:r>
              <a:rPr lang="en-US" sz="1600">
                <a:solidFill>
                  <a:schemeClr val="tx2"/>
                </a:solidFill>
              </a:rPr>
              <a:t>Confusions matrices among shirt, coat, pullover, and T shirt due to shared shapes.</a:t>
            </a:r>
          </a:p>
          <a:p>
            <a:pPr>
              <a:lnSpc>
                <a:spcPct val="90000"/>
              </a:lnSpc>
            </a:pPr>
            <a:r>
              <a:rPr lang="en-US" sz="1600">
                <a:solidFill>
                  <a:schemeClr val="tx2"/>
                </a:solidFill>
              </a:rPr>
              <a:t>Convolutional features capture edges and textures that reduce these mix ups.</a:t>
            </a:r>
          </a:p>
          <a:p>
            <a:pPr>
              <a:lnSpc>
                <a:spcPct val="90000"/>
              </a:lnSpc>
            </a:pPr>
            <a:r>
              <a:rPr lang="en-US" sz="1600">
                <a:solidFill>
                  <a:schemeClr val="tx2"/>
                </a:solidFill>
              </a:rPr>
              <a:t>Distinctive classes such as trouser, sandal, sneaker, bag, and ankle boot remain strong.</a:t>
            </a:r>
          </a:p>
          <a:p>
            <a:pPr>
              <a:lnSpc>
                <a:spcPct val="90000"/>
              </a:lnSpc>
            </a:pPr>
            <a:r>
              <a:rPr lang="en-US" sz="1600">
                <a:solidFill>
                  <a:schemeClr val="tx2"/>
                </a:solidFill>
              </a:rPr>
              <a:t>Class wise precision and recall confirm stability across majority categories (Bbouzidi et al., 2024).</a:t>
            </a:r>
          </a:p>
          <a:p>
            <a:pPr>
              <a:lnSpc>
                <a:spcPct val="90000"/>
              </a:lnSpc>
            </a:pPr>
            <a:r>
              <a:rPr lang="en-US" sz="1600">
                <a:solidFill>
                  <a:schemeClr val="tx2"/>
                </a:solidFill>
              </a:rPr>
              <a:t>Error structure guides targeted improvements for tops and outerwear.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dirty="0"/>
              <a:t>Conclusion and Summary</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1700"/>
              <a:t>Both models demonstrate full achievement of learning outcomes.</a:t>
            </a:r>
          </a:p>
          <a:p>
            <a:r>
              <a:rPr lang="en-US" sz="1700"/>
              <a:t>The convolutional model offers higher accuracy and clearer class separation.</a:t>
            </a:r>
          </a:p>
          <a:p>
            <a:r>
              <a:rPr lang="en-US" sz="1700"/>
              <a:t>The artificial neural network remains a transparent baseline for instruction.</a:t>
            </a:r>
          </a:p>
          <a:p>
            <a:r>
              <a:rPr lang="en-US" sz="1700"/>
              <a:t>Evaluation integrates accuracy, confusion matrices, and class wise reporting.</a:t>
            </a:r>
          </a:p>
          <a:p>
            <a:r>
              <a:rPr lang="en-US" sz="1700"/>
              <a:t>Recommendation prioritises the convolutional model for practical use and summative grading.</a:t>
            </a:r>
          </a:p>
        </p:txBody>
      </p:sp>
      <p:pic>
        <p:nvPicPr>
          <p:cNvPr id="14" name="Picture 13" descr="3D rendering of game pieces tied together with a rope">
            <a:extLst>
              <a:ext uri="{FF2B5EF4-FFF2-40B4-BE49-F238E27FC236}">
                <a16:creationId xmlns:a16="http://schemas.microsoft.com/office/drawing/2014/main" id="{2B30FA51-65F9-951D-2A10-6B4C3771A51C}"/>
              </a:ext>
            </a:extLst>
          </p:cNvPr>
          <p:cNvPicPr>
            <a:picLocks noChangeAspect="1"/>
          </p:cNvPicPr>
          <p:nvPr/>
        </p:nvPicPr>
        <p:blipFill>
          <a:blip r:embed="rId3"/>
          <a:srcRect l="15073" r="41244"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Future Work and Acknowledgments</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1700"/>
              <a:t>Introduce moderate augmentation using rotations, translations, random crops, and contrast jitter.</a:t>
            </a:r>
          </a:p>
          <a:p>
            <a:r>
              <a:rPr lang="en-US" sz="1700"/>
              <a:t>Apply label smoothing and a cosine learning rate schedule for improved calibration.</a:t>
            </a:r>
          </a:p>
          <a:p>
            <a:r>
              <a:rPr lang="en-US" sz="1700"/>
              <a:t>Explore a deeper convolutional baseline with batch normalisation and extra pooling.</a:t>
            </a:r>
          </a:p>
          <a:p>
            <a:r>
              <a:rPr lang="en-US" sz="1700"/>
              <a:t>Use class balanced sampling to support challenging categories.</a:t>
            </a:r>
          </a:p>
          <a:p>
            <a:r>
              <a:rPr lang="en-US" sz="1700"/>
              <a:t>Document pipeline choices and demonstrate the system live.</a:t>
            </a:r>
          </a:p>
        </p:txBody>
      </p:sp>
      <p:pic>
        <p:nvPicPr>
          <p:cNvPr id="19" name="Picture 18" descr="Magnifying glass showing decling performance">
            <a:extLst>
              <a:ext uri="{FF2B5EF4-FFF2-40B4-BE49-F238E27FC236}">
                <a16:creationId xmlns:a16="http://schemas.microsoft.com/office/drawing/2014/main" id="{A7230DBD-8A5F-93B9-27D7-D7E0DABC0EE2}"/>
              </a:ext>
            </a:extLst>
          </p:cNvPr>
          <p:cNvPicPr>
            <a:picLocks noChangeAspect="1"/>
          </p:cNvPicPr>
          <p:nvPr/>
        </p:nvPicPr>
        <p:blipFill>
          <a:blip r:embed="rId3"/>
          <a:srcRect l="15279" r="45843"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C4816B-8E9D-2F7E-0EF1-308B38FAD61B}"/>
              </a:ext>
            </a:extLst>
          </p:cNvPr>
          <p:cNvSpPr>
            <a:spLocks noGrp="1"/>
          </p:cNvSpPr>
          <p:nvPr>
            <p:ph type="title"/>
          </p:nvPr>
        </p:nvSpPr>
        <p:spPr>
          <a:xfrm>
            <a:off x="571352" y="350196"/>
            <a:ext cx="3485178" cy="1624520"/>
          </a:xfrm>
        </p:spPr>
        <p:txBody>
          <a:bodyPr anchor="ctr">
            <a:normAutofit/>
          </a:bodyPr>
          <a:lstStyle/>
          <a:p>
            <a:r>
              <a:rPr lang="en-GB" sz="3500" dirty="0"/>
              <a:t>References</a:t>
            </a:r>
          </a:p>
        </p:txBody>
      </p:sp>
      <p:sp>
        <p:nvSpPr>
          <p:cNvPr id="3" name="Content Placeholder 2">
            <a:extLst>
              <a:ext uri="{FF2B5EF4-FFF2-40B4-BE49-F238E27FC236}">
                <a16:creationId xmlns:a16="http://schemas.microsoft.com/office/drawing/2014/main" id="{2E870081-049F-1998-AD5A-4491D5C8793A}"/>
              </a:ext>
            </a:extLst>
          </p:cNvPr>
          <p:cNvSpPr>
            <a:spLocks noGrp="1"/>
          </p:cNvSpPr>
          <p:nvPr>
            <p:ph idx="1"/>
          </p:nvPr>
        </p:nvSpPr>
        <p:spPr>
          <a:xfrm>
            <a:off x="571351" y="2743200"/>
            <a:ext cx="3485179" cy="3613149"/>
          </a:xfrm>
        </p:spPr>
        <p:txBody>
          <a:bodyPr anchor="ctr">
            <a:normAutofit/>
          </a:bodyPr>
          <a:lstStyle/>
          <a:p>
            <a:pPr>
              <a:lnSpc>
                <a:spcPct val="90000"/>
              </a:lnSpc>
            </a:pPr>
            <a:r>
              <a:rPr lang="en-IN" sz="1100"/>
              <a:t>Xin, J., Yi, T.J., Yi, V.P., Yu, P.J. and Salam, Z.A.A., 2023. Convolutional neural network for fashion images classification (Fashion-MNIST). </a:t>
            </a:r>
            <a:r>
              <a:rPr lang="en-IN" sz="1100" i="1"/>
              <a:t>Journal of Applied Technology and Innovation</a:t>
            </a:r>
            <a:r>
              <a:rPr lang="en-IN" sz="1100"/>
              <a:t>, </a:t>
            </a:r>
            <a:r>
              <a:rPr lang="en-IN" sz="1100" i="1"/>
              <a:t>7</a:t>
            </a:r>
            <a:r>
              <a:rPr lang="en-IN" sz="1100"/>
              <a:t>(4), p.11.</a:t>
            </a:r>
          </a:p>
          <a:p>
            <a:pPr>
              <a:lnSpc>
                <a:spcPct val="90000"/>
              </a:lnSpc>
            </a:pPr>
            <a:r>
              <a:rPr lang="en-IN" sz="1100"/>
              <a:t>Sumera, S.R., Anjum, N. and Vaidehi, K., 2022. Implementation of CNN and ANN for Fashion-MNIST-Dataset using Different Optimizers. </a:t>
            </a:r>
            <a:r>
              <a:rPr lang="en-IN" sz="1100" i="1"/>
              <a:t>Indian Journal of Science and Technology</a:t>
            </a:r>
            <a:r>
              <a:rPr lang="en-IN" sz="1100"/>
              <a:t>, </a:t>
            </a:r>
            <a:r>
              <a:rPr lang="en-IN" sz="1100" i="1"/>
              <a:t>15</a:t>
            </a:r>
            <a:r>
              <a:rPr lang="en-IN" sz="1100"/>
              <a:t>(47), pp.2639-2645.</a:t>
            </a:r>
          </a:p>
          <a:p>
            <a:pPr>
              <a:lnSpc>
                <a:spcPct val="90000"/>
              </a:lnSpc>
            </a:pPr>
            <a:r>
              <a:rPr lang="en-IN" sz="1100"/>
              <a:t>Mukhamediev, R.I., 2024. State-of-the-Art Results with the Fashion-MNIST Dataset. </a:t>
            </a:r>
            <a:r>
              <a:rPr lang="en-IN" sz="1100" i="1"/>
              <a:t>Mathematics</a:t>
            </a:r>
            <a:r>
              <a:rPr lang="en-IN" sz="1100"/>
              <a:t>, </a:t>
            </a:r>
            <a:r>
              <a:rPr lang="en-IN" sz="1100" i="1"/>
              <a:t>12</a:t>
            </a:r>
            <a:r>
              <a:rPr lang="en-IN" sz="1100"/>
              <a:t>(20), p.3174.</a:t>
            </a:r>
          </a:p>
          <a:p>
            <a:pPr>
              <a:lnSpc>
                <a:spcPct val="90000"/>
              </a:lnSpc>
            </a:pPr>
            <a:r>
              <a:rPr lang="en-IN" sz="1100"/>
              <a:t>Nocentini, O., Kim, J., Bashir, M.Z. and Cavallo, F., 2022. Image classification using multiple convolutional neural networks on the fashion-MNIST dataset. </a:t>
            </a:r>
            <a:r>
              <a:rPr lang="en-IN" sz="1100" i="1"/>
              <a:t>Sensors</a:t>
            </a:r>
            <a:r>
              <a:rPr lang="en-IN" sz="1100"/>
              <a:t>, </a:t>
            </a:r>
            <a:r>
              <a:rPr lang="en-IN" sz="1100" i="1"/>
              <a:t>22</a:t>
            </a:r>
            <a:r>
              <a:rPr lang="en-IN" sz="1100"/>
              <a:t>(23), p.9544.</a:t>
            </a:r>
          </a:p>
          <a:p>
            <a:pPr>
              <a:lnSpc>
                <a:spcPct val="90000"/>
              </a:lnSpc>
            </a:pPr>
            <a:r>
              <a:rPr lang="en-IN" sz="1100"/>
              <a:t>Bbouzidi, S., Hcini, G., Jdey, I. and Drira, F., 2024. Convolutional neural networks and vision transformers for fashion mnist classification: A literature review. </a:t>
            </a:r>
            <a:r>
              <a:rPr lang="en-IN" sz="1100" i="1"/>
              <a:t>arXiv preprint arXiv:2406.03478</a:t>
            </a:r>
            <a:r>
              <a:rPr lang="en-IN" sz="1100"/>
              <a:t>.</a:t>
            </a:r>
          </a:p>
          <a:p>
            <a:pPr marL="0" indent="0">
              <a:lnSpc>
                <a:spcPct val="90000"/>
              </a:lnSpc>
              <a:buNone/>
            </a:pPr>
            <a:endParaRPr lang="en-GB" sz="1100"/>
          </a:p>
        </p:txBody>
      </p:sp>
      <p:pic>
        <p:nvPicPr>
          <p:cNvPr id="5" name="Picture 4" descr="Paper doll dresses">
            <a:extLst>
              <a:ext uri="{FF2B5EF4-FFF2-40B4-BE49-F238E27FC236}">
                <a16:creationId xmlns:a16="http://schemas.microsoft.com/office/drawing/2014/main" id="{62B6B159-3D2C-BCEF-7C85-9E43FEBA7E88}"/>
              </a:ext>
            </a:extLst>
          </p:cNvPr>
          <p:cNvPicPr>
            <a:picLocks noChangeAspect="1"/>
          </p:cNvPicPr>
          <p:nvPr/>
        </p:nvPicPr>
        <p:blipFill>
          <a:blip r:embed="rId2"/>
          <a:srcRect l="19746" r="29531" b="-1"/>
          <a:stretch>
            <a:fillRect/>
          </a:stretch>
        </p:blipFill>
        <p:spPr>
          <a:xfrm>
            <a:off x="4572000" y="1"/>
            <a:ext cx="4577118" cy="6858000"/>
          </a:xfrm>
          <a:prstGeom prst="rect">
            <a:avLst/>
          </a:prstGeom>
        </p:spPr>
      </p:pic>
    </p:spTree>
    <p:extLst>
      <p:ext uri="{BB962C8B-B14F-4D97-AF65-F5344CB8AC3E}">
        <p14:creationId xmlns:p14="http://schemas.microsoft.com/office/powerpoint/2010/main" val="1080437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TotalTime>
  <Words>1310</Words>
  <Application>Microsoft Office PowerPoint</Application>
  <PresentationFormat>On-screen Show (4:3)</PresentationFormat>
  <Paragraphs>71</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Fashion MNIST Image  Classification</vt:lpstr>
      <vt:lpstr>Introduction</vt:lpstr>
      <vt:lpstr>Objectives and Goals</vt:lpstr>
      <vt:lpstr>Methodology and Approach</vt:lpstr>
      <vt:lpstr>PowerPoint Presentation</vt:lpstr>
      <vt:lpstr>Implementation Details</vt:lpstr>
      <vt:lpstr>Results and Findings</vt:lpstr>
      <vt:lpstr>Discussion and Interpretation</vt:lpstr>
      <vt:lpstr>Conclusion and Summary</vt:lpstr>
      <vt:lpstr>Future Work and Acknowledgments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cp:keywords/>
  <cp:revision>5</cp:revision>
  <dcterms:created xsi:type="dcterms:W3CDTF">2013-01-27T09:14:16Z</dcterms:created>
  <dcterms:modified xsi:type="dcterms:W3CDTF">2025-10-17T08:13:12Z</dcterms:modified>
  <cp:category/>
</cp:coreProperties>
</file>